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3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Bob's 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Why Bob Outperforms Claude, Gemini, and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7A9AC"/>
                </a:solidFill>
              </a:defRPr>
            </a:pPr>
            <a:r>
              <a:t>IBM &amp; CDW Partnership |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2CE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Bob Value Proposition | IBM &amp; CDW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43CE"/>
                </a:solidFill>
              </a:defRPr>
            </a:pPr>
            <a:r>
              <a:t>Bob is a specialized AI coding assistant that combines conversational AI with powerful development tools</a:t>
            </a:r>
          </a:p>
          <a:p>
            <a:pPr>
              <a:defRPr sz="1400"/>
            </a:pPr>
          </a:p>
          <a:p>
            <a:pPr>
              <a:defRPr sz="1600" b="1">
                <a:solidFill>
                  <a:srgbClr val="0043CE"/>
                </a:solidFill>
              </a:defRPr>
            </a:pPr>
            <a:r>
              <a:t>Key Differentiators:</a:t>
            </a:r>
          </a:p>
          <a:p>
            <a:pPr>
              <a:defRPr sz="1400"/>
            </a:pPr>
            <a:r>
              <a:t>• Tool-First Architecture: Direct file system and command execution</a:t>
            </a:r>
          </a:p>
          <a:p>
            <a:pPr>
              <a:defRPr sz="1400"/>
            </a:pPr>
            <a:r>
              <a:t>• Task-Oriented Workflow: Step-by-step execution with confirmation</a:t>
            </a:r>
          </a:p>
          <a:p>
            <a:pPr>
              <a:defRPr sz="1400"/>
            </a:pPr>
            <a:r>
              <a:t>• Context-Aware: Deep workspace understanding</a:t>
            </a:r>
          </a:p>
          <a:p>
            <a:pPr>
              <a:defRPr sz="1400"/>
            </a:pPr>
            <a:r>
              <a:t>• Iterative Development: Built-in feedback loops</a:t>
            </a:r>
          </a:p>
          <a:p>
            <a:pPr>
              <a:defRPr sz="1400"/>
            </a:pPr>
            <a:r>
              <a:t>• Production-Ready: Designed for real development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2CE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Architecture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Bob Value Proposition | IBM &amp; CDW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81381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463040"/>
                <a:gridCol w="1463040"/>
                <a:gridCol w="1463040"/>
                <a:gridCol w="1463040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Bob</a:t>
                      </a:r>
                    </a:p>
                  </a:txBody>
                  <a:tcPr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Claude</a:t>
                      </a:r>
                    </a:p>
                  </a:txBody>
                  <a:tcPr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Gemini</a:t>
                      </a:r>
                    </a:p>
                  </a:txBody>
                  <a:tcPr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Copilot</a:t>
                      </a:r>
                    </a:p>
                  </a:txBody>
                  <a:tcPr>
                    <a:solidFill>
                      <a:srgbClr val="0072C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Direct File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✅ Native</a:t>
                      </a:r>
                    </a:p>
                  </a:txBody>
                  <a:tcPr>
                    <a:solidFill>
                      <a:srgbClr val="E6FF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❌ Copy/paste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❌ Copy/paste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⚠️ Limited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Command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✅ Full CLI</a:t>
                      </a:r>
                    </a:p>
                  </a:txBody>
                  <a:tcPr>
                    <a:solidFill>
                      <a:srgbClr val="E6FF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❌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❌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❌ No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Multi-File Editing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✅ Atomic</a:t>
                      </a:r>
                    </a:p>
                  </a:txBody>
                  <a:tcPr>
                    <a:solidFill>
                      <a:srgbClr val="E6FF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⚠️ 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⚠️ 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⚠️ Single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Search &amp; 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✅ Built-in</a:t>
                      </a:r>
                    </a:p>
                  </a:txBody>
                  <a:tcPr>
                    <a:solidFill>
                      <a:srgbClr val="E6FF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❌ 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❌ 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⚠️ Limited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Workspace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✅ Full tree</a:t>
                      </a:r>
                    </a:p>
                  </a:txBody>
                  <a:tcPr>
                    <a:solidFill>
                      <a:srgbClr val="E6FF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⚠️ 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⚠️ 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⚠️ Open files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2CE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Development Workflow Efficiency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Bob Value Proposition | IBM &amp; CDW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3657600" cy="2286000"/>
          </a:xfrm>
          <a:prstGeom prst="rect">
            <a:avLst/>
          </a:prstGeom>
          <a:solidFill>
            <a:srgbClr val="E6FFE6"/>
          </a:solidFill>
        </p:spPr>
        <p:txBody>
          <a:bodyPr wrap="none">
            <a:spAutoFit/>
          </a:bodyPr>
          <a:lstStyle/>
          <a:p>
            <a:pPr>
              <a:defRPr sz="1400"/>
            </a:pPr>
            <a:r>
              <a:t>With Bob (5 steps):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1. 🔍 search_files</a:t>
            </a:r>
          </a:p>
          <a:p>
            <a:pPr>
              <a:defRPr sz="1400"/>
            </a:pPr>
            <a:r>
              <a:t>2. 📖 read_file</a:t>
            </a:r>
          </a:p>
          <a:p>
            <a:pPr>
              <a:defRPr sz="1400"/>
            </a:pPr>
            <a:r>
              <a:t>3. ✏️ apply_diff</a:t>
            </a:r>
          </a:p>
          <a:p>
            <a:pPr>
              <a:defRPr sz="1400"/>
            </a:pPr>
            <a:r>
              <a:t>4. 🧪 execute_command</a:t>
            </a:r>
          </a:p>
          <a:p>
            <a:pPr>
              <a:defRPr sz="1400"/>
            </a:pPr>
            <a:r>
              <a:t>5. ✅ attempt_completion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828800"/>
            <a:ext cx="3657600" cy="2286000"/>
          </a:xfrm>
          <a:prstGeom prst="rect">
            <a:avLst/>
          </a:prstGeom>
          <a:solidFill>
            <a:srgbClr val="FFE6E6"/>
          </a:solidFill>
        </p:spPr>
        <p:txBody>
          <a:bodyPr wrap="none">
            <a:spAutoFit/>
          </a:bodyPr>
          <a:lstStyle/>
          <a:p>
            <a:pPr>
              <a:defRPr sz="1400"/>
            </a:pPr>
            <a:r>
              <a:t>With Claude/Gemini (15+ steps):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1. Ask user to show file</a:t>
            </a:r>
          </a:p>
          <a:p>
            <a:pPr>
              <a:defRPr sz="1400"/>
            </a:pPr>
            <a:r>
              <a:t>2. User copies content</a:t>
            </a:r>
          </a:p>
          <a:p>
            <a:pPr>
              <a:defRPr sz="1400"/>
            </a:pPr>
            <a:r>
              <a:t>3. Provide suggestions</a:t>
            </a:r>
          </a:p>
          <a:p>
            <a:pPr>
              <a:defRPr sz="1400"/>
            </a:pPr>
            <a:r>
              <a:t>4. User copies suggestions</a:t>
            </a:r>
          </a:p>
          <a:p>
            <a:pPr>
              <a:defRPr sz="1400"/>
            </a:pPr>
            <a:r>
              <a:t>5. User opens file</a:t>
            </a:r>
          </a:p>
          <a:p>
            <a:pPr>
              <a:defRPr sz="1400"/>
            </a:pPr>
            <a:r>
              <a:t>6. User makes edits</a:t>
            </a:r>
          </a:p>
          <a:p>
            <a:pPr>
              <a:defRPr sz="1400"/>
            </a:pPr>
            <a:r>
              <a:t>7-15. Repeat...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572000"/>
            <a:ext cx="5486400" cy="731520"/>
          </a:xfrm>
          <a:prstGeom prst="rect">
            <a:avLst/>
          </a:prstGeom>
          <a:solidFill>
            <a:srgbClr val="CC0000"/>
          </a:solidFill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Time Saved: 70-80% reduction in manual steps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2CE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Precision &amp; Reliability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Bob Value Proposition | IBM &amp; CDW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43CE"/>
                </a:solidFill>
              </a:defRPr>
            </a:pPr>
            <a:r>
              <a:t>Bob's Targeted Editing Tools:</a:t>
            </a:r>
          </a:p>
          <a:p>
            <a:pPr>
              <a:defRPr sz="1400"/>
            </a:pPr>
          </a:p>
          <a:p>
            <a:pPr>
              <a:defRPr sz="1600" b="1">
                <a:solidFill>
                  <a:srgbClr val="0043CE"/>
                </a:solidFill>
              </a:defRPr>
            </a:pPr>
            <a:r>
              <a:t>apply_diff - Surgical Code Changes</a:t>
            </a:r>
          </a:p>
          <a:p>
            <a:pPr>
              <a:defRPr sz="1400"/>
            </a:pPr>
            <a:r>
              <a:t>• Exact match verification (no accidental overwrites)</a:t>
            </a:r>
          </a:p>
          <a:p>
            <a:pPr>
              <a:defRPr sz="1400"/>
            </a:pPr>
            <a:r>
              <a:t>• Multiple changes in one atomic operation</a:t>
            </a:r>
          </a:p>
          <a:p>
            <a:pPr>
              <a:defRPr sz="1400"/>
            </a:pPr>
            <a:r>
              <a:t>• Line number tracking for precision</a:t>
            </a:r>
          </a:p>
          <a:p>
            <a:pPr>
              <a:defRPr sz="1400"/>
            </a:pPr>
            <a:r>
              <a:t>• Automatic validation</a:t>
            </a:r>
          </a:p>
          <a:p>
            <a:pPr>
              <a:defRPr sz="1400"/>
            </a:pPr>
          </a:p>
          <a:p>
            <a:pPr>
              <a:defRPr sz="1600" b="1">
                <a:solidFill>
                  <a:srgbClr val="0043CE"/>
                </a:solidFill>
              </a:defRPr>
            </a:pPr>
            <a:r>
              <a:t>Comparison:</a:t>
            </a:r>
          </a:p>
          <a:p>
            <a:pPr>
              <a:defRPr sz="1400"/>
            </a:pPr>
            <a:r>
              <a:t>• Copilot: Suggests changes, requires manual acceptance</a:t>
            </a:r>
          </a:p>
          <a:p>
            <a:pPr>
              <a:defRPr sz="1400"/>
            </a:pPr>
            <a:r>
              <a:t>• Claude/Gemini: Full file rewrites (risky for large files)</a:t>
            </a:r>
          </a:p>
          <a:p>
            <a:pPr>
              <a:defRPr sz="1400"/>
            </a:pPr>
            <a:r>
              <a:t>• Bob: Precise, verified, atomic changes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2CE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Context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Bob Value Proposition | IBM &amp; CDW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43CE"/>
                </a:solidFill>
              </a:defRPr>
            </a:pPr>
            <a:r>
              <a:t>Bob's Intelligent File Reading:</a:t>
            </a:r>
          </a:p>
          <a:p>
            <a:pPr>
              <a:defRPr sz="1400"/>
            </a:pPr>
          </a:p>
          <a:p>
            <a:pPr>
              <a:defRPr sz="1600" b="1">
                <a:solidFill>
                  <a:srgbClr val="0043CE"/>
                </a:solidFill>
              </a:defRPr>
            </a:pPr>
            <a:r>
              <a:t>Key Features:</a:t>
            </a:r>
          </a:p>
          <a:p>
            <a:pPr>
              <a:defRPr sz="1400"/>
            </a:pPr>
            <a:r>
              <a:t>• Read up to 5 files simultaneously</a:t>
            </a:r>
          </a:p>
          <a:p>
            <a:pPr>
              <a:defRPr sz="1400"/>
            </a:pPr>
            <a:r>
              <a:t>• Selective line ranges for large files</a:t>
            </a:r>
          </a:p>
          <a:p>
            <a:pPr>
              <a:defRPr sz="1400"/>
            </a:pPr>
            <a:r>
              <a:t>• Automatic line numbering</a:t>
            </a:r>
          </a:p>
          <a:p>
            <a:pPr>
              <a:defRPr sz="1400"/>
            </a:pPr>
            <a:r>
              <a:t>• PDF/DOCX text extraction</a:t>
            </a:r>
          </a:p>
          <a:p>
            <a:pPr>
              <a:defRPr sz="1400"/>
            </a:pPr>
          </a:p>
          <a:p>
            <a:pPr>
              <a:defRPr sz="1600" b="1">
                <a:solidFill>
                  <a:srgbClr val="0043CE"/>
                </a:solidFill>
              </a:defRPr>
            </a:pPr>
            <a:r>
              <a:t>Comparison:</a:t>
            </a:r>
          </a:p>
          <a:p>
            <a:pPr>
              <a:defRPr sz="1400"/>
            </a:pPr>
            <a:r>
              <a:t>• Claude/Gemini: Limited context window, manual file sharing</a:t>
            </a:r>
          </a:p>
          <a:p>
            <a:pPr>
              <a:defRPr sz="1400"/>
            </a:pPr>
            <a:r>
              <a:t>• Copilot: Only sees currently open files</a:t>
            </a:r>
          </a:p>
          <a:p>
            <a:pPr>
              <a:defRPr sz="1400"/>
            </a:pPr>
            <a:r>
              <a:t>• Bob: Proactive context gathering with surgical precision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2CE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Real-World Development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Bob Value Proposition | IBM &amp; CDW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Assistant</a:t>
                      </a:r>
                    </a:p>
                  </a:txBody>
                  <a:tcPr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Steps</a:t>
                      </a:r>
                    </a:p>
                  </a:txBody>
                  <a:tcPr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Manual Actions</a:t>
                      </a:r>
                    </a:p>
                  </a:txBody>
                  <a:tcPr>
                    <a:solidFill>
                      <a:srgbClr val="0072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Bob</a:t>
                      </a:r>
                    </a:p>
                  </a:txBody>
                  <a:tcPr>
                    <a:solidFill>
                      <a:srgbClr val="E6F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>
                    <a:solidFill>
                      <a:srgbClr val="E6F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 min</a:t>
                      </a:r>
                    </a:p>
                  </a:txBody>
                  <a:tcPr>
                    <a:solidFill>
                      <a:srgbClr val="E6F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E6FF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Claude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8+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Gemini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8+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Copilot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5+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Scenario: Fix a bug affecting 3 files with testing</a:t>
            </a:r>
          </a:p>
          <a:p>
            <a:pPr>
              <a:defRPr sz="1400" i="1"/>
            </a:pPr>
          </a:p>
          <a:p>
            <a:pPr>
              <a:defRPr sz="1400" i="1"/>
            </a:pPr>
            <a:r>
              <a:t>Bob's atomic operations and integrated testing provide 7x faster resolution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2CE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Advanced 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Bob Value Proposition | IBM &amp; CDW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43CE"/>
                </a:solidFill>
              </a:defRPr>
            </a:pPr>
            <a:r>
              <a:t>Bob's Unique Features:</a:t>
            </a:r>
          </a:p>
          <a:p>
            <a:pPr>
              <a:defRPr sz="1400"/>
            </a:pPr>
          </a:p>
          <a:p>
            <a:pPr>
              <a:defRPr sz="1600" b="1">
                <a:solidFill>
                  <a:srgbClr val="0043CE"/>
                </a:solidFill>
              </a:defRPr>
            </a:pPr>
            <a:r>
              <a:t>1. Code Discovery</a:t>
            </a:r>
          </a:p>
          <a:p>
            <a:pPr lvl="1">
              <a:defRPr sz="1200"/>
            </a:pPr>
            <a:r>
              <a:t>   • Instantly map codebase structure</a:t>
            </a:r>
          </a:p>
          <a:p>
            <a:pPr lvl="1">
              <a:defRPr sz="1200"/>
            </a:pPr>
            <a:r>
              <a:t>   • Find classes, functions, interfaces</a:t>
            </a:r>
          </a:p>
          <a:p>
            <a:pPr>
              <a:defRPr sz="1400"/>
            </a:pPr>
          </a:p>
          <a:p>
            <a:pPr>
              <a:defRPr sz="1600" b="1">
                <a:solidFill>
                  <a:srgbClr val="0043CE"/>
                </a:solidFill>
              </a:defRPr>
            </a:pPr>
            <a:r>
              <a:t>2. Pattern Search</a:t>
            </a:r>
          </a:p>
          <a:p>
            <a:pPr lvl="1">
              <a:defRPr sz="1200"/>
            </a:pPr>
            <a:r>
              <a:t>   • Regex-powered search</a:t>
            </a:r>
          </a:p>
          <a:p>
            <a:pPr lvl="1">
              <a:defRPr sz="1200"/>
            </a:pPr>
            <a:r>
              <a:t>   • Context-aware results</a:t>
            </a:r>
          </a:p>
          <a:p>
            <a:pPr>
              <a:defRPr sz="1400"/>
            </a:pPr>
          </a:p>
          <a:p>
            <a:pPr>
              <a:defRPr sz="1600" b="1">
                <a:solidFill>
                  <a:srgbClr val="0043CE"/>
                </a:solidFill>
              </a:defRPr>
            </a:pPr>
            <a:r>
              <a:t>3. Task Management</a:t>
            </a:r>
          </a:p>
          <a:p>
            <a:pPr lvl="1">
              <a:defRPr sz="1200"/>
            </a:pPr>
            <a:r>
              <a:t>   • Built-in task tracking</a:t>
            </a:r>
          </a:p>
          <a:p>
            <a:pPr lvl="1">
              <a:defRPr sz="1200"/>
            </a:pPr>
            <a:r>
              <a:t>   • Progress visualization</a:t>
            </a:r>
          </a:p>
          <a:p>
            <a:pPr>
              <a:defRPr sz="1400"/>
            </a:pPr>
          </a:p>
          <a:p>
            <a:pPr>
              <a:defRPr sz="1600" b="1">
                <a:solidFill>
                  <a:srgbClr val="0043CE"/>
                </a:solidFill>
              </a:defRPr>
            </a:pPr>
            <a:r>
              <a:t>None of these exist in Claude, Gemini, or Copilot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2CE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Safety &amp; Reliability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Bob Value Proposition | IBM &amp; CDW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828800"/>
          <a:ext cx="6400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5334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Bob</a:t>
                      </a:r>
                    </a:p>
                  </a:txBody>
                  <a:tcPr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>
                    <a:solidFill>
                      <a:srgbClr val="0072C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Exact Match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✅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❌ No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Atomic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✅ All or nothing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⚠️ Partial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User Confirmation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✅ Every 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⚠️ Optional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Rollback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✅ Via version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⚠️ Manual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File Locking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✅ .bobignore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❌ No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2CE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Integration &amp; Extensibility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Bob Value Proposition | IBM &amp; CDW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43CE"/>
                </a:solidFill>
              </a:defRPr>
            </a:pPr>
            <a:r>
              <a:t>Bob's Ecosystem:</a:t>
            </a:r>
          </a:p>
          <a:p>
            <a:pPr>
              <a:defRPr sz="1400"/>
            </a:pPr>
          </a:p>
          <a:p>
            <a:pPr>
              <a:defRPr sz="1600" b="1">
                <a:solidFill>
                  <a:srgbClr val="0043CE"/>
                </a:solidFill>
              </a:defRPr>
            </a:pPr>
            <a:r>
              <a:t>Core Engine:</a:t>
            </a:r>
          </a:p>
          <a:p>
            <a:pPr>
              <a:defRPr sz="1400"/>
            </a:pPr>
            <a:r>
              <a:t>• File Operations • Command Execution</a:t>
            </a:r>
          </a:p>
          <a:p>
            <a:pPr>
              <a:defRPr sz="1400"/>
            </a:pPr>
            <a:r>
              <a:t>• Search &amp; Discovery • Code Analysis</a:t>
            </a:r>
          </a:p>
          <a:p>
            <a:pPr>
              <a:defRPr sz="1400"/>
            </a:pPr>
          </a:p>
          <a:p>
            <a:pPr>
              <a:defRPr sz="1600" b="1">
                <a:solidFill>
                  <a:srgbClr val="0043CE"/>
                </a:solidFill>
              </a:defRPr>
            </a:pPr>
            <a:r>
              <a:t>VS Code Integration:</a:t>
            </a:r>
          </a:p>
          <a:p>
            <a:pPr>
              <a:defRPr sz="1400"/>
            </a:pPr>
            <a:r>
              <a:t>• Workspace Awareness • Terminal Access</a:t>
            </a:r>
          </a:p>
          <a:p>
            <a:pPr>
              <a:defRPr sz="1400"/>
            </a:pPr>
            <a:r>
              <a:t>• Git Integration • Extension Ecosystem</a:t>
            </a:r>
          </a:p>
          <a:p>
            <a:pPr>
              <a:defRPr sz="1400"/>
            </a:pPr>
          </a:p>
          <a:p>
            <a:pPr>
              <a:defRPr sz="1600" b="1">
                <a:solidFill>
                  <a:srgbClr val="0043CE"/>
                </a:solidFill>
              </a:defRPr>
            </a:pPr>
            <a:r>
              <a:t>Development Tools:</a:t>
            </a:r>
          </a:p>
          <a:p>
            <a:pPr>
              <a:defRPr sz="1400"/>
            </a:pPr>
            <a:r>
              <a:t>• npm/pip/cargo/etc. • Testing Frameworks</a:t>
            </a:r>
          </a:p>
          <a:p>
            <a:pPr>
              <a:defRPr sz="1400"/>
            </a:pPr>
            <a:r>
              <a:t>• Linters &amp; Formatters • Build Systems</a:t>
            </a:r>
          </a:p>
          <a:p>
            <a:pPr>
              <a:defRPr sz="1400"/>
            </a:pPr>
          </a:p>
          <a:p>
            <a:pPr>
              <a:defRPr sz="1600" b="1">
                <a:solidFill>
                  <a:srgbClr val="0043CE"/>
                </a:solidFill>
              </a:defRPr>
            </a:pPr>
            <a:r>
              <a:t>Bob provides full development environment access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2CE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Cost-Effectiveness &amp; ROI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Bob Value Proposition | IBM &amp; CDW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6400800" cy="1828800"/>
          </a:xfrm>
          <a:prstGeom prst="rect">
            <a:avLst/>
          </a:prstGeom>
          <a:solidFill>
            <a:srgbClr val="F0F8FF"/>
          </a:solidFill>
        </p:spPr>
        <p:txBody>
          <a:bodyPr wrap="none">
            <a:spAutoFit/>
          </a:bodyPr>
          <a:lstStyle/>
          <a:p>
            <a:pPr>
              <a:defRPr sz="1600"/>
            </a:pPr>
            <a:r>
              <a:t>ROI Calculation: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Developer hourly rate: $75/hour</a:t>
            </a:r>
          </a:p>
          <a:p>
            <a:pPr>
              <a:defRPr sz="1600"/>
            </a:pPr>
            <a:r>
              <a:t>Time saved per month: 50 hours</a:t>
            </a:r>
          </a:p>
          <a:p>
            <a:pPr>
              <a:defRPr sz="1600"/>
            </a:pPr>
            <a:r>
              <a:t>Monthly value: $3,750</a:t>
            </a:r>
          </a:p>
          <a:p>
            <a:pPr>
              <a:defRPr sz="1600"/>
            </a:pPr>
          </a:p>
          <a:p>
            <a:pPr>
              <a:defRPr sz="2000" b="1">
                <a:solidFill>
                  <a:srgbClr val="CC0000"/>
                </a:solidFill>
              </a:defRPr>
            </a:pPr>
            <a:r>
              <a:t>Annual value: $45,000 per developer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Time Savings Per Task:</a:t>
            </a:r>
          </a:p>
          <a:p>
            <a:pPr>
              <a:defRPr sz="1400"/>
            </a:pPr>
            <a:r>
              <a:t>• Simple edits: 50% faster</a:t>
            </a:r>
          </a:p>
          <a:p>
            <a:pPr>
              <a:defRPr sz="1400"/>
            </a:pPr>
            <a:r>
              <a:t>• Multi-file refactoring: 70% faster</a:t>
            </a:r>
          </a:p>
          <a:p>
            <a:pPr>
              <a:defRPr sz="1400"/>
            </a:pPr>
            <a:r>
              <a:t>• Bug investigation: 60% faster</a:t>
            </a:r>
          </a:p>
          <a:p>
            <a:pPr>
              <a:defRPr sz="1400"/>
            </a:pPr>
            <a:r>
              <a:t>• Feature implementation: 65% faster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2CE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When to Use Each Tool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Bob Value Proposition | IBM &amp; CDW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3886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/>
            </a:pPr>
            <a:r>
              <a:t>Bob - Best For:</a:t>
            </a:r>
          </a:p>
          <a:p>
            <a:pPr>
              <a:defRPr sz="1100" b="0"/>
            </a:pPr>
            <a:r>
              <a:t>✅ Multi-file refactoring</a:t>
            </a:r>
          </a:p>
          <a:p>
            <a:pPr>
              <a:defRPr sz="1100" b="0"/>
            </a:pPr>
            <a:r>
              <a:t>✅ Bug fixes requiring investigation</a:t>
            </a:r>
          </a:p>
          <a:p>
            <a:pPr>
              <a:defRPr sz="1100" b="0"/>
            </a:pPr>
            <a:r>
              <a:t>✅ Feature implementation</a:t>
            </a:r>
          </a:p>
          <a:p>
            <a:pPr>
              <a:defRPr sz="1100" b="0"/>
            </a:pPr>
            <a:r>
              <a:t>✅ Code migration</a:t>
            </a:r>
          </a:p>
          <a:p>
            <a:pPr>
              <a:defRPr sz="1100" b="0"/>
            </a:pPr>
            <a:r>
              <a:t>✅ Testing and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1828800"/>
            <a:ext cx="3886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Claude - Best For:</a:t>
            </a:r>
          </a:p>
          <a:p>
            <a:pPr>
              <a:defRPr sz="1100"/>
            </a:pPr>
            <a:r>
              <a:t>✅ Brainstorming and design</a:t>
            </a:r>
          </a:p>
          <a:p>
            <a:pPr>
              <a:defRPr sz="1100"/>
            </a:pPr>
            <a:r>
              <a:t>✅ Code review and explanation</a:t>
            </a:r>
          </a:p>
          <a:p>
            <a:pPr>
              <a:defRPr sz="1100"/>
            </a:pPr>
            <a:r>
              <a:t>✅ Algorithm design</a:t>
            </a:r>
          </a:p>
          <a:p>
            <a:pPr>
              <a:defRPr sz="1100"/>
            </a:pPr>
            <a:r>
              <a:t>⚠️ Requires manual file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3886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Gemini - Best For:</a:t>
            </a:r>
          </a:p>
          <a:p>
            <a:pPr>
              <a:defRPr sz="1100"/>
            </a:pPr>
            <a:r>
              <a:t>✅ Research and learning</a:t>
            </a:r>
          </a:p>
          <a:p>
            <a:pPr>
              <a:defRPr sz="1100"/>
            </a:pPr>
            <a:r>
              <a:t>✅ Code explanation</a:t>
            </a:r>
          </a:p>
          <a:p>
            <a:pPr>
              <a:defRPr sz="1100"/>
            </a:pPr>
            <a:r>
              <a:t>✅ General programming questions</a:t>
            </a:r>
          </a:p>
          <a:p>
            <a:pPr>
              <a:defRPr sz="1100"/>
            </a:pPr>
            <a:r>
              <a:t>⚠️ Limited coding workflow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4114800"/>
            <a:ext cx="3886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Copilot - Best For:</a:t>
            </a:r>
          </a:p>
          <a:p>
            <a:pPr>
              <a:defRPr sz="1100"/>
            </a:pPr>
            <a:r>
              <a:t>✅ Inline code completion</a:t>
            </a:r>
          </a:p>
          <a:p>
            <a:pPr>
              <a:defRPr sz="1100"/>
            </a:pPr>
            <a:r>
              <a:t>✅ Single-file edits</a:t>
            </a:r>
          </a:p>
          <a:p>
            <a:pPr>
              <a:defRPr sz="1100"/>
            </a:pPr>
            <a:r>
              <a:t>⚠️ No multi-file coordination</a:t>
            </a:r>
          </a:p>
          <a:p>
            <a:pPr>
              <a:defRPr sz="1100"/>
            </a:pPr>
            <a:r>
              <a:t>⚠️ No command execution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2CE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Technical Specifications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Bob Value Proposition | IBM &amp; CDW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43CE"/>
                </a:solidFill>
              </a:defRPr>
            </a:pPr>
            <a:r>
              <a:t>Core Components:</a:t>
            </a:r>
          </a:p>
          <a:p>
            <a:pPr>
              <a:defRPr sz="1400"/>
            </a:pPr>
            <a:r>
              <a:t>• LLM Engine: Advanced language understanding</a:t>
            </a:r>
          </a:p>
          <a:p>
            <a:pPr>
              <a:defRPr sz="1400"/>
            </a:pPr>
            <a:r>
              <a:t>• Tool System: 12+ specialized development tools</a:t>
            </a:r>
          </a:p>
          <a:p>
            <a:pPr>
              <a:defRPr sz="1400"/>
            </a:pPr>
            <a:r>
              <a:t>• File System Interface: Direct OS-level access</a:t>
            </a:r>
          </a:p>
          <a:p>
            <a:pPr>
              <a:defRPr sz="1400"/>
            </a:pPr>
            <a:r>
              <a:t>• Command Executor: Full shell integration</a:t>
            </a:r>
          </a:p>
          <a:p>
            <a:pPr>
              <a:defRPr sz="1400"/>
            </a:pPr>
          </a:p>
          <a:p>
            <a:pPr>
              <a:defRPr sz="1600" b="1">
                <a:solidFill>
                  <a:srgbClr val="0043CE"/>
                </a:solidFill>
              </a:defRPr>
            </a:pPr>
            <a:r>
              <a:t>Performance Metrics:</a:t>
            </a:r>
          </a:p>
          <a:p>
            <a:pPr>
              <a:defRPr sz="1400"/>
            </a:pPr>
            <a:r>
              <a:t>• File operations: &lt;100ms</a:t>
            </a:r>
          </a:p>
          <a:p>
            <a:pPr>
              <a:defRPr sz="1400"/>
            </a:pPr>
            <a:r>
              <a:t>• Search operations: &lt;500ms</a:t>
            </a:r>
          </a:p>
          <a:p>
            <a:pPr>
              <a:defRPr sz="1400"/>
            </a:pPr>
            <a:r>
              <a:t>• Multi-file edits: &lt;2s</a:t>
            </a:r>
          </a:p>
          <a:p>
            <a:pPr>
              <a:defRPr sz="1400"/>
            </a:pPr>
          </a:p>
          <a:p>
            <a:pPr>
              <a:defRPr sz="1600" b="1">
                <a:solidFill>
                  <a:srgbClr val="0043CE"/>
                </a:solidFill>
              </a:defRPr>
            </a:pPr>
            <a:r>
              <a:t>Supported Languages:</a:t>
            </a:r>
          </a:p>
          <a:p>
            <a:pPr>
              <a:defRPr sz="1600" b="1">
                <a:solidFill>
                  <a:srgbClr val="0043CE"/>
                </a:solidFill>
              </a:defRPr>
            </a:pPr>
            <a:r>
              <a:t>Python, JavaScript, TypeScript, Java, C++, C#, Go, Rust,</a:t>
            </a:r>
          </a:p>
          <a:p>
            <a:pPr>
              <a:defRPr sz="1600" b="1">
                <a:solidFill>
                  <a:srgbClr val="0043CE"/>
                </a:solidFill>
              </a:defRPr>
            </a:pPr>
            <a:r>
              <a:t>Ruby, PHP, Swift, Kotlin, and 50+ more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2CE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Security &amp; Privacy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Bob Value Proposition | IBM &amp; CDW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43CE"/>
                </a:solidFill>
              </a:defRPr>
            </a:pPr>
            <a:r>
              <a:t>Bob's Security Model:</a:t>
            </a:r>
          </a:p>
          <a:p>
            <a:pPr>
              <a:defRPr sz="1400"/>
            </a:pPr>
          </a:p>
          <a:p>
            <a:pPr>
              <a:defRPr sz="1600" b="1">
                <a:solidFill>
                  <a:srgbClr val="0043CE"/>
                </a:solidFill>
              </a:defRPr>
            </a:pPr>
            <a:r>
              <a:t>Data Protection:</a:t>
            </a:r>
          </a:p>
          <a:p>
            <a:pPr>
              <a:defRPr sz="1600" b="1">
                <a:solidFill>
                  <a:srgbClr val="0043CE"/>
                </a:solidFill>
              </a:defRPr>
            </a:pPr>
            <a:r>
              <a:t>✅ Local execution (no code sent to cloud)</a:t>
            </a:r>
          </a:p>
          <a:p>
            <a:pPr>
              <a:defRPr sz="1600" b="1">
                <a:solidFill>
                  <a:srgbClr val="0043CE"/>
                </a:solidFill>
              </a:defRPr>
            </a:pPr>
            <a:r>
              <a:t>✅ File access controls (.bobignore)</a:t>
            </a:r>
          </a:p>
          <a:p>
            <a:pPr>
              <a:defRPr sz="1600" b="1">
                <a:solidFill>
                  <a:srgbClr val="0043CE"/>
                </a:solidFill>
              </a:defRPr>
            </a:pPr>
            <a:r>
              <a:t>✅ User confirmation required</a:t>
            </a:r>
          </a:p>
          <a:p>
            <a:pPr>
              <a:defRPr sz="1600" b="1">
                <a:solidFill>
                  <a:srgbClr val="0043CE"/>
                </a:solidFill>
              </a:defRPr>
            </a:pPr>
            <a:r>
              <a:t>✅ Audit trail of all operations</a:t>
            </a:r>
          </a:p>
          <a:p>
            <a:pPr>
              <a:defRPr sz="1600" b="1">
                <a:solidFill>
                  <a:srgbClr val="0043CE"/>
                </a:solidFill>
              </a:defRPr>
            </a:pPr>
            <a:r>
              <a:t>✅ No persistent storage of code</a:t>
            </a:r>
          </a:p>
          <a:p>
            <a:pPr>
              <a:defRPr sz="1400"/>
            </a:pPr>
          </a:p>
          <a:p>
            <a:pPr>
              <a:defRPr sz="1600" b="1">
                <a:solidFill>
                  <a:srgbClr val="0043CE"/>
                </a:solidFill>
              </a:defRPr>
            </a:pPr>
            <a:r>
              <a:t>Comparison:</a:t>
            </a:r>
          </a:p>
          <a:p>
            <a:pPr>
              <a:defRPr sz="1400"/>
            </a:pPr>
            <a:r>
              <a:t>• Copilot: Sends code to GitHub servers</a:t>
            </a:r>
          </a:p>
          <a:p>
            <a:pPr>
              <a:defRPr sz="1400"/>
            </a:pPr>
            <a:r>
              <a:t>• Claude/Gemini: Processes in cloud</a:t>
            </a:r>
          </a:p>
          <a:p>
            <a:pPr>
              <a:defRPr sz="1400"/>
            </a:pPr>
            <a:r>
              <a:t>• Bob: Hybrid model with local tool execution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2CE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Bob Value Proposition | IBM &amp; CDW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43CE"/>
                </a:solidFill>
              </a:defRPr>
            </a:pPr>
            <a:r>
              <a:t>Q3 2026:</a:t>
            </a:r>
          </a:p>
          <a:p>
            <a:pPr>
              <a:defRPr sz="1400"/>
            </a:pPr>
            <a:r>
              <a:t>• MCP (Model Context Protocol) integration</a:t>
            </a:r>
          </a:p>
          <a:p>
            <a:pPr>
              <a:defRPr sz="1400"/>
            </a:pPr>
            <a:r>
              <a:t>• Custom tool creation</a:t>
            </a:r>
          </a:p>
          <a:p>
            <a:pPr>
              <a:defRPr sz="1400"/>
            </a:pPr>
            <a:r>
              <a:t>• Advanced analytics dashboard</a:t>
            </a:r>
          </a:p>
          <a:p>
            <a:pPr>
              <a:defRPr sz="1400"/>
            </a:pPr>
            <a:r>
              <a:t>• Git workflow automation</a:t>
            </a:r>
          </a:p>
          <a:p>
            <a:pPr>
              <a:defRPr sz="1400"/>
            </a:pPr>
          </a:p>
          <a:p>
            <a:pPr>
              <a:defRPr sz="1600" b="1">
                <a:solidFill>
                  <a:srgbClr val="0043CE"/>
                </a:solidFill>
              </a:defRPr>
            </a:pPr>
            <a:r>
              <a:t>Q4 2026:</a:t>
            </a:r>
          </a:p>
          <a:p>
            <a:pPr>
              <a:defRPr sz="1400"/>
            </a:pPr>
            <a:r>
              <a:t>• Multi-repository support</a:t>
            </a:r>
          </a:p>
          <a:p>
            <a:pPr>
              <a:defRPr sz="1400"/>
            </a:pPr>
            <a:r>
              <a:t>• Automated testing frameworks</a:t>
            </a:r>
          </a:p>
          <a:p>
            <a:pPr>
              <a:defRPr sz="1400"/>
            </a:pPr>
            <a:r>
              <a:t>• Documentation generation</a:t>
            </a:r>
          </a:p>
          <a:p>
            <a:pPr>
              <a:defRPr sz="1400"/>
            </a:pPr>
            <a:r>
              <a:t>• CI/CD integration</a:t>
            </a:r>
          </a:p>
          <a:p>
            <a:pPr>
              <a:defRPr sz="1400"/>
            </a:pPr>
          </a:p>
          <a:p>
            <a:pPr>
              <a:defRPr sz="1600" b="1">
                <a:solidFill>
                  <a:srgbClr val="0043CE"/>
                </a:solidFill>
              </a:defRPr>
            </a:pPr>
            <a:r>
              <a:t>2027:</a:t>
            </a:r>
          </a:p>
          <a:p>
            <a:pPr>
              <a:defRPr sz="1400"/>
            </a:pPr>
            <a:r>
              <a:t>• Team collaboration features</a:t>
            </a:r>
          </a:p>
          <a:p>
            <a:pPr>
              <a:defRPr sz="1400"/>
            </a:pPr>
            <a:r>
              <a:t>• Performance profiling</a:t>
            </a:r>
          </a:p>
          <a:p>
            <a:pPr>
              <a:defRPr sz="1400"/>
            </a:pPr>
            <a:r>
              <a:t>• Enhanced security scanning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2CE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Bob is the Superior Choice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Bob Value Proposition | IBM &amp; CDW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For Individual Developers: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⚡ 60-70% faster workflow</a:t>
            </a:r>
          </a:p>
          <a:p>
            <a:pPr>
              <a:defRPr sz="1200"/>
            </a:pPr>
            <a:r>
              <a:t>🎯 Reduced context switching</a:t>
            </a:r>
          </a:p>
          <a:p>
            <a:pPr>
              <a:defRPr sz="1200"/>
            </a:pPr>
            <a:r>
              <a:t>✅ Higher code quality</a:t>
            </a:r>
          </a:p>
          <a:p>
            <a:pPr>
              <a:defRPr sz="1200"/>
            </a:pPr>
            <a:r>
              <a:t>🧘 Less cognitive 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8288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For Teams: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📈 Increased productivity</a:t>
            </a:r>
          </a:p>
          <a:p>
            <a:pPr>
              <a:defRPr sz="1200"/>
            </a:pPr>
            <a:r>
              <a:t>🤝 Consistent code patterns</a:t>
            </a:r>
          </a:p>
          <a:p>
            <a:pPr>
              <a:defRPr sz="1200"/>
            </a:pPr>
            <a:r>
              <a:t>📚 Better knowledge sharing</a:t>
            </a:r>
          </a:p>
          <a:p>
            <a:pPr>
              <a:defRPr sz="1200"/>
            </a:pPr>
            <a:r>
              <a:t>💰 Significant cost savings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For Organizations: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💵 $45K+ ROI per developer</a:t>
            </a:r>
          </a:p>
          <a:p>
            <a:pPr>
              <a:defRPr sz="1200"/>
            </a:pPr>
            <a:r>
              <a:t>🚀 Faster time to market</a:t>
            </a:r>
          </a:p>
          <a:p>
            <a:pPr>
              <a:defRPr sz="1200"/>
            </a:pPr>
            <a:r>
              <a:t>🛡️ Reduced bug rates</a:t>
            </a:r>
          </a:p>
          <a:p>
            <a:pPr>
              <a:defRPr sz="1200"/>
            </a:pPr>
            <a:r>
              <a:t>📊 Measurable productivity gains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2CE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Summary: The Bob Advantage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58595B"/>
          </a:solidFill>
          <a:ln>
            <a:solidFill>
              <a:srgbClr val="585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Bob Value Proposition | IBM &amp; CDW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645920"/>
          <a:ext cx="8595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415636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Bob</a:t>
                      </a:r>
                    </a:p>
                  </a:txBody>
                  <a:tcPr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Claude</a:t>
                      </a:r>
                    </a:p>
                  </a:txBody>
                  <a:tcPr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Gemini</a:t>
                      </a:r>
                    </a:p>
                  </a:txBody>
                  <a:tcPr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Copilot</a:t>
                      </a:r>
                    </a:p>
                  </a:txBody>
                  <a:tcPr>
                    <a:solidFill>
                      <a:srgbClr val="0072C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Direct File Editing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⭐⭐⭐⭐⭐</a:t>
                      </a:r>
                    </a:p>
                  </a:txBody>
                  <a:tcPr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⭐⭐⭐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Multi-File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⭐⭐⭐⭐⭐</a:t>
                      </a:r>
                    </a:p>
                  </a:txBody>
                  <a:tcPr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Command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⭐⭐⭐⭐⭐</a:t>
                      </a:r>
                    </a:p>
                  </a:txBody>
                  <a:tcPr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Code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⭐⭐⭐⭐⭐</a:t>
                      </a:r>
                    </a:p>
                  </a:txBody>
                  <a:tcPr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⭐⭐⭐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Context Awareness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⭐⭐⭐⭐⭐</a:t>
                      </a:r>
                    </a:p>
                  </a:txBody>
                  <a:tcPr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⭐⭐⭐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Workflow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⭐⭐⭐⭐⭐</a:t>
                      </a:r>
                    </a:p>
                  </a:txBody>
                  <a:tcPr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⭐⭐⭐⭐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Safety &amp; 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⭐⭐⭐⭐⭐</a:t>
                      </a:r>
                    </a:p>
                  </a:txBody>
                  <a:tcPr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⭐⭐⭐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Conversation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Code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⭐⭐⭐⭐⭐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Overall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⭐⭐⭐⭐⭐</a:t>
                      </a:r>
                    </a:p>
                  </a:txBody>
                  <a:tcPr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⭐⭐⭐⭐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3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Try Bob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Getting Started: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1. Install Bob in VS Code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2. Open your project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3. Give Bob a task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4. Watch the magic happen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7A9AC"/>
                </a:solidFill>
              </a:defRPr>
            </a:pPr>
            <a:r>
              <a:t>Resources:</a:t>
            </a:r>
          </a:p>
          <a:p>
            <a:pPr algn="ctr">
              <a:defRPr sz="1600">
                <a:solidFill>
                  <a:srgbClr val="A7A9AC"/>
                </a:solidFill>
              </a:defRPr>
            </a:pPr>
            <a:r>
              <a:t>📖 Documentation | 💬 Community | 🎓 Tutorials | 🐛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
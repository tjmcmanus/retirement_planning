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 snapToObjects="1">
      <p:cViewPr varScale="1">
        <p:scale>
          <a:sx n="118" d="100"/>
          <a:sy n="118" d="100"/>
        </p:scale>
        <p:origin x="167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9547" y="988874"/>
            <a:ext cx="7144905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Unlock New Revenue in </a:t>
            </a:r>
            <a:endParaRPr lang="en-US" dirty="0"/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Your $10M Account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C107"/>
                </a:solidFill>
              </a:defRPr>
            </a:pPr>
            <a:r>
              <a:t>Why IBM Bob is Your Strategic Account Growth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Turn Developer Productivity into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$500K+ Annual Recurring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CDW Account Executive Enablement | IBM Partnership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Opportunity: Why Now?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CDW Account Executive Enablement | IBM Bob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6400800" cy="1097280"/>
          </a:xfrm>
          <a:prstGeom prst="rect">
            <a:avLst/>
          </a:prstGeom>
          <a:solidFill>
            <a:srgbClr val="FFF5F5"/>
          </a:solidFill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Untapped Wallet Share</a:t>
            </a:r>
          </a:p>
          <a:p>
            <a:pPr>
              <a:defRPr sz="1400"/>
            </a:pPr>
            <a:r>
              <a:t>Every developer = $45K annual value</a:t>
            </a:r>
          </a:p>
          <a:p>
            <a:r>
              <a:t>Your 100-dev account = $4.5M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91840"/>
            <a:ext cx="6400800" cy="1097280"/>
          </a:xfrm>
          <a:prstGeom prst="rect">
            <a:avLst/>
          </a:prstGeom>
          <a:solidFill>
            <a:srgbClr val="FFF5F5"/>
          </a:solidFill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Fast Sales Cycle</a:t>
            </a:r>
          </a:p>
          <a:p>
            <a:pPr>
              <a:defRPr sz="1400"/>
            </a:pPr>
            <a:r>
              <a:t>Pilot to production in 60 days</a:t>
            </a:r>
          </a:p>
          <a:p>
            <a:r>
              <a:t>Immediate ROI proves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54880"/>
            <a:ext cx="6400800" cy="1097280"/>
          </a:xfrm>
          <a:prstGeom prst="rect">
            <a:avLst/>
          </a:prstGeom>
          <a:solidFill>
            <a:srgbClr val="FFF5F5"/>
          </a:solidFill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Recurring Revenue</a:t>
            </a:r>
          </a:p>
          <a:p>
            <a:pPr>
              <a:defRPr sz="1400"/>
            </a:pPr>
            <a:r>
              <a:t>Annual subscriptions with high renewal</a:t>
            </a:r>
          </a:p>
          <a:p>
            <a:r>
              <a:t>Expansion into other business units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This Matters to Your $10M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CDW Account Executive Enablement | IBM Bob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43200" cy="54864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Protect Your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743200" cy="2286000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300"/>
            </a:pPr>
            <a:r>
              <a:t>Show innovation and value</a:t>
            </a:r>
          </a:p>
          <a:p>
            <a:pPr>
              <a:spcBef>
                <a:spcPts val="600"/>
              </a:spcBef>
              <a:defRPr sz="1300"/>
            </a:pPr>
            <a:r>
              <a:t>Prevent competitive displacement</a:t>
            </a:r>
          </a:p>
          <a:p>
            <a:pPr>
              <a:spcBef>
                <a:spcPts val="600"/>
              </a:spcBef>
              <a:defRPr sz="1300"/>
            </a:pPr>
            <a:r>
              <a:t>Deepen executive relationships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743200" cy="54864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Expand Your Footprint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68880"/>
            <a:ext cx="2743200" cy="2286000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300"/>
            </a:pPr>
            <a:r>
              <a:t>New budget line (developer tools)</a:t>
            </a:r>
          </a:p>
          <a:p>
            <a:pPr>
              <a:spcBef>
                <a:spcPts val="600"/>
              </a:spcBef>
              <a:defRPr sz="1300"/>
            </a:pPr>
            <a:r>
              <a:t>Cross-sell into IT operations</a:t>
            </a:r>
          </a:p>
          <a:p>
            <a:pPr>
              <a:spcBef>
                <a:spcPts val="600"/>
              </a:spcBef>
              <a:defRPr sz="1300"/>
            </a:pPr>
            <a:r>
              <a:t>Upsell existing IBM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2743200" cy="54864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Increase Your Commission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68880"/>
            <a:ext cx="2743200" cy="2286000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300"/>
            </a:pPr>
            <a:r>
              <a:t>$500K+ new ARR opportunity</a:t>
            </a:r>
          </a:p>
          <a:p>
            <a:pPr>
              <a:spcBef>
                <a:spcPts val="600"/>
              </a:spcBef>
              <a:defRPr sz="1300"/>
            </a:pPr>
            <a:r>
              <a:t>High-margin software sale</a:t>
            </a:r>
          </a:p>
          <a:p>
            <a:pPr>
              <a:spcBef>
                <a:spcPts val="600"/>
              </a:spcBef>
              <a:defRPr sz="1300"/>
            </a:pPr>
            <a:r>
              <a:t>Quick close = Q4 accelerator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solidFill>
            <a:srgbClr val="0072CE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Bob positions you as a strategic advisor, not just a vendor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Your Revenue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CDW Account Executive Enablement | IBM Bob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5486400" cy="1371600"/>
          </a:xfrm>
          <a:prstGeom prst="rect">
            <a:avLst/>
          </a:prstGeom>
          <a:solidFill>
            <a:srgbClr val="E6FFE6"/>
          </a:solidFill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24A148"/>
                </a:solidFill>
              </a:defRPr>
            </a:pPr>
            <a:r>
              <a:t>$500K - $2M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First Year Annual Recurring Revenue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384048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Account Size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Annual Value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Your Commission*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50 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$25K - $50K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 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$50K - $100K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200 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$100K - $200K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 Services &amp;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+20-30%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+$10K - $60K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Your Account Expansion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CDW Account Executive Enablement | IBM Bob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solidFill>
            <a:srgbClr val="0072CE"/>
          </a:solidFill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1: 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2880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Start with 10-20 developer pilot</a:t>
            </a:r>
          </a:p>
          <a:p>
            <a:pPr>
              <a:spcBef>
                <a:spcPts val="400"/>
              </a:spcBef>
              <a:defRPr sz="1400"/>
            </a:pPr>
            <a:r>
              <a:t>$100K - $200K initial deal</a:t>
            </a:r>
          </a:p>
          <a:p>
            <a:pPr>
              <a:spcBef>
                <a:spcPts val="400"/>
              </a:spcBef>
              <a:defRPr sz="1400"/>
            </a:pPr>
            <a:r>
              <a:t>Prove ROI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828800" cy="457200"/>
          </a:xfrm>
          <a:prstGeom prst="rect">
            <a:avLst/>
          </a:prstGeom>
          <a:solidFill>
            <a:srgbClr val="0072CE"/>
          </a:solidFill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2: Expand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20040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Roll out to full dev organization</a:t>
            </a:r>
          </a:p>
          <a:p>
            <a:pPr>
              <a:spcBef>
                <a:spcPts val="400"/>
              </a:spcBef>
              <a:defRPr sz="1400"/>
            </a:pPr>
            <a:r>
              <a:t>$500K - $1M expansion</a:t>
            </a:r>
          </a:p>
          <a:p>
            <a:pPr>
              <a:spcBef>
                <a:spcPts val="400"/>
              </a:spcBef>
              <a:defRPr sz="1400"/>
            </a:pPr>
            <a:r>
              <a:t>Add training &amp;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828800" cy="457200"/>
          </a:xfrm>
          <a:prstGeom prst="rect">
            <a:avLst/>
          </a:prstGeom>
          <a:solidFill>
            <a:srgbClr val="0072CE"/>
          </a:solidFill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3: Multiply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57200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Expand to other business units</a:t>
            </a:r>
          </a:p>
          <a:p>
            <a:pPr>
              <a:spcBef>
                <a:spcPts val="400"/>
              </a:spcBef>
              <a:defRPr sz="1400"/>
            </a:pPr>
            <a:r>
              <a:t>Add complementary IBM solutions</a:t>
            </a:r>
          </a:p>
          <a:p>
            <a:pPr>
              <a:spcBef>
                <a:spcPts val="400"/>
              </a:spcBef>
              <a:defRPr sz="1400"/>
            </a:pPr>
            <a:r>
              <a:t>$2M+ total account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669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Total Timeline: 6-12 months from pilot to full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Your Competitive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CDW Account Executive Enablement | IBM Bob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Why Bob Wins vs. Other AI Tools:</a:t>
            </a:r>
          </a:p>
          <a:p>
            <a:pPr>
              <a:spcBef>
                <a:spcPts val="200"/>
              </a:spcBef>
              <a:defRPr sz="1400"/>
            </a:pPr>
            <a:endParaRPr/>
          </a:p>
          <a:p>
            <a:pPr>
              <a:defRPr sz="1600" b="1">
                <a:solidFill>
                  <a:srgbClr val="0072CE"/>
                </a:solidFill>
              </a:defRPr>
            </a:pPr>
            <a:r>
              <a:t>✓ IBM Partnership = Enterprise Credibility</a:t>
            </a:r>
          </a:p>
          <a:p>
            <a:pPr>
              <a:spcBef>
                <a:spcPts val="200"/>
              </a:spcBef>
              <a:defRPr sz="1400"/>
            </a:pPr>
            <a:r>
              <a:t>  Your customer trusts IBM for mission-critical solutions</a:t>
            </a:r>
          </a:p>
          <a:p>
            <a:pPr>
              <a:spcBef>
                <a:spcPts val="200"/>
              </a:spcBef>
              <a:defRPr sz="1400"/>
            </a:pPr>
            <a:endParaRPr/>
          </a:p>
          <a:p>
            <a:pPr>
              <a:defRPr sz="1600" b="1">
                <a:solidFill>
                  <a:srgbClr val="0072CE"/>
                </a:solidFill>
              </a:defRPr>
            </a:pPr>
            <a:r>
              <a:t>✓ CDW Support = Implementation Confidence</a:t>
            </a:r>
          </a:p>
          <a:p>
            <a:pPr>
              <a:spcBef>
                <a:spcPts val="200"/>
              </a:spcBef>
              <a:defRPr sz="1400"/>
            </a:pPr>
            <a:r>
              <a:t>  You provide end-to-end service and support</a:t>
            </a:r>
          </a:p>
          <a:p>
            <a:pPr>
              <a:spcBef>
                <a:spcPts val="200"/>
              </a:spcBef>
              <a:defRPr sz="1400"/>
            </a:pPr>
            <a:endParaRPr/>
          </a:p>
          <a:p>
            <a:pPr>
              <a:defRPr sz="1600" b="1">
                <a:solidFill>
                  <a:srgbClr val="0072CE"/>
                </a:solidFill>
              </a:defRPr>
            </a:pPr>
            <a:r>
              <a:t>✓ Proven ROI = Easy Business Case</a:t>
            </a:r>
          </a:p>
          <a:p>
            <a:pPr>
              <a:spcBef>
                <a:spcPts val="200"/>
              </a:spcBef>
              <a:defRPr sz="1400"/>
            </a:pPr>
            <a:r>
              <a:t>  $45K per developer is a no-brainer for CFOs</a:t>
            </a:r>
          </a:p>
          <a:p>
            <a:pPr>
              <a:spcBef>
                <a:spcPts val="200"/>
              </a:spcBef>
              <a:defRPr sz="1400"/>
            </a:pPr>
            <a:endParaRPr/>
          </a:p>
          <a:p>
            <a:pPr>
              <a:defRPr sz="1600" b="1">
                <a:solidFill>
                  <a:srgbClr val="0072CE"/>
                </a:solidFill>
              </a:defRPr>
            </a:pPr>
            <a:r>
              <a:t>✓ Fast Time to Value = Quick Wins</a:t>
            </a:r>
          </a:p>
          <a:p>
            <a:pPr>
              <a:spcBef>
                <a:spcPts val="200"/>
              </a:spcBef>
              <a:defRPr sz="1400"/>
            </a:pPr>
            <a:r>
              <a:t>  Pilot results in 30 days build momentum</a:t>
            </a:r>
          </a:p>
          <a:p>
            <a:pPr>
              <a:spcBef>
                <a:spcPts val="200"/>
              </a:spcBef>
              <a:defRPr sz="1400"/>
            </a:pPr>
            <a:endParaRPr/>
          </a:p>
          <a:p>
            <a:pPr>
              <a:defRPr sz="1600" b="1">
                <a:solidFill>
                  <a:srgbClr val="0072CE"/>
                </a:solidFill>
              </a:defRPr>
            </a:pPr>
            <a:r>
              <a:t>✓ Exclusive Positioning = No Direct Competition</a:t>
            </a:r>
          </a:p>
          <a:p>
            <a:pPr>
              <a:spcBef>
                <a:spcPts val="200"/>
              </a:spcBef>
              <a:defRPr sz="1400"/>
            </a:pPr>
            <a:r>
              <a:t>  GitHub Copilot, Claude, Gemini can't match Bob's capabilities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Customer Pain Points You Can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CDW Account Executive Enablement | IBM Bob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886200" cy="365760"/>
          </a:xfrm>
          <a:prstGeom prst="rect">
            <a:avLst/>
          </a:prstGeom>
          <a:solidFill>
            <a:srgbClr val="58595B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CTO/VP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886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Pain: Need to do more with same team</a:t>
            </a:r>
          </a:p>
          <a:p>
            <a:pPr>
              <a:defRPr sz="1100"/>
            </a:pPr>
            <a:r>
              <a:t>Pressure to accelerate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886200" cy="457200"/>
          </a:xfrm>
          <a:prstGeom prst="rect">
            <a:avLst/>
          </a:prstGeom>
          <a:solidFill>
            <a:srgbClr val="E6FFE6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A148"/>
                </a:solidFill>
              </a:defRPr>
            </a:pPr>
            <a:r>
              <a:t>Solution: Bob delivers 3X productivity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3886200" cy="365760"/>
          </a:xfrm>
          <a:prstGeom prst="rect">
            <a:avLst/>
          </a:prstGeom>
          <a:solidFill>
            <a:srgbClr val="58595B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3886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Pain: Rising development costs</a:t>
            </a:r>
          </a:p>
          <a:p>
            <a:pPr>
              <a:defRPr sz="1100"/>
            </a:pPr>
            <a:r>
              <a:t>Need measurable ROI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3886200" cy="457200"/>
          </a:xfrm>
          <a:prstGeom prst="rect">
            <a:avLst/>
          </a:prstGeom>
          <a:solidFill>
            <a:srgbClr val="E6FFE6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A148"/>
                </a:solidFill>
              </a:defRPr>
            </a:pPr>
            <a:r>
              <a:t>Solution: Bob shows $45K savings per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28800"/>
            <a:ext cx="3886200" cy="365760"/>
          </a:xfrm>
          <a:prstGeom prst="rect">
            <a:avLst/>
          </a:prstGeom>
          <a:solidFill>
            <a:srgbClr val="58595B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CISO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194560"/>
            <a:ext cx="3886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Pain: Security &amp; compliance concerns</a:t>
            </a:r>
          </a:p>
          <a:p>
            <a:pPr>
              <a:defRPr sz="1100"/>
            </a:pPr>
            <a:r>
              <a:t>Risk of AI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926080"/>
            <a:ext cx="3886200" cy="457200"/>
          </a:xfrm>
          <a:prstGeom prst="rect">
            <a:avLst/>
          </a:prstGeom>
          <a:solidFill>
            <a:srgbClr val="E6FFE6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A148"/>
                </a:solidFill>
              </a:defRPr>
            </a:pPr>
            <a:r>
              <a:t>Solution: Bob is enterprise-grade secure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931920"/>
            <a:ext cx="3886200" cy="365760"/>
          </a:xfrm>
          <a:prstGeom prst="rect">
            <a:avLst/>
          </a:prstGeom>
          <a:solidFill>
            <a:srgbClr val="58595B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297680"/>
            <a:ext cx="3886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Pain: Competitive pressure</a:t>
            </a:r>
          </a:p>
          <a:p>
            <a:pPr>
              <a:defRPr sz="1100"/>
            </a:pPr>
            <a:r>
              <a:t>Time-to-market 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5029200"/>
            <a:ext cx="3886200" cy="457200"/>
          </a:xfrm>
          <a:prstGeom prst="rect">
            <a:avLst/>
          </a:prstGeom>
          <a:solidFill>
            <a:srgbClr val="E6FFE6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A148"/>
                </a:solidFill>
              </a:defRPr>
            </a:pPr>
            <a:r>
              <a:t>Solution: Bob accelerates innovation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Your Value Proposition to the 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CDW Account Executive Enablement | IBM Bob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0489" y="1828800"/>
            <a:ext cx="6123022" cy="1015663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 algn="ctr">
              <a:defRPr sz="2000" b="1" i="1">
                <a:solidFill>
                  <a:srgbClr val="0043CE"/>
                </a:solidFill>
              </a:defRPr>
            </a:pPr>
            <a:r>
              <a:rPr dirty="0"/>
              <a:t>"We can help you increase developer productivity by 3X </a:t>
            </a:r>
            <a:endParaRPr lang="en-US" dirty="0"/>
          </a:p>
          <a:p>
            <a:pPr algn="ctr">
              <a:defRPr sz="2000" b="1" i="1">
                <a:solidFill>
                  <a:srgbClr val="0043CE"/>
                </a:solidFill>
              </a:defRPr>
            </a:pPr>
            <a:r>
              <a:t>while reducing costs by $45,000 per developer annually</a:t>
            </a:r>
            <a:endParaRPr lang="en-US"/>
          </a:p>
          <a:p>
            <a:pPr algn="ctr">
              <a:defRPr sz="2000" b="1" i="1">
                <a:solidFill>
                  <a:srgbClr val="0043CE"/>
                </a:solidFill>
              </a:defRPr>
            </a:pPr>
            <a:r>
              <a:t>—</a:t>
            </a:r>
            <a:r>
              <a:rPr dirty="0"/>
              <a:t>with proven results in 30 days."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✓ Backed by IBM's enterprise-grade technology</a:t>
            </a:r>
          </a:p>
          <a:p>
            <a:pPr>
              <a:spcBef>
                <a:spcPts val="800"/>
              </a:spcBef>
              <a:defRPr sz="1600"/>
            </a:pPr>
            <a:r>
              <a:t>✓ Supported by CDW's implementation expertise</a:t>
            </a:r>
          </a:p>
          <a:p>
            <a:pPr>
              <a:spcBef>
                <a:spcPts val="800"/>
              </a:spcBef>
              <a:defRPr sz="1600"/>
            </a:pPr>
            <a:r>
              <a:t>✓ Proven ROI with Fortune 500 customers</a:t>
            </a:r>
          </a:p>
          <a:p>
            <a:pPr>
              <a:spcBef>
                <a:spcPts val="800"/>
              </a:spcBef>
              <a:defRPr sz="1600"/>
            </a:pPr>
            <a:r>
              <a:t>✓ Risk-free pilot program to prove value</a:t>
            </a:r>
          </a:p>
          <a:p>
            <a:pPr>
              <a:spcBef>
                <a:spcPts val="800"/>
              </a:spcBef>
              <a:defRPr sz="1600"/>
            </a:pPr>
            <a:r>
              <a:t>✓ Seamless integration with existing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Conversation Starters for Your Next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CDW Account Executive Enablement | IBM Bob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C0000"/>
                </a:solidFill>
              </a:defRPr>
            </a:pPr>
            <a:r>
              <a:t>"How satisfied are you with your current developer productivity?"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→ Opens discussion about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C0000"/>
                </a:solidFill>
              </a:defRPr>
            </a:pPr>
            <a:r>
              <a:t>"What if you could deliver features 70% faster without hiring?"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→ Quantifies the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C0000"/>
                </a:solidFill>
              </a:defRPr>
            </a:pPr>
            <a:r>
              <a:t>"We're seeing Fortune 500 companies save $45K per developer annually..."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→ Establishes credibility and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C0000"/>
                </a:solidFill>
              </a:defRPr>
            </a:pPr>
            <a:r>
              <a:t>"Would you be interested in a 30-day pilot with 10 developers?"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→ Low-risk trial close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Handling Common Objections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CDW Account Executive Enablement | IBM Bob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❌ We already use GitHub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4A148"/>
                </a:solidFill>
              </a:defRPr>
            </a:pPr>
            <a:r>
              <a:t>✓ Bob complements Copilot—it handles multi-file operations and workflows that Copilot can't. Many customers use both.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❌ We need to see ROI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4A148"/>
                </a:solidFill>
              </a:defRPr>
            </a:pPr>
            <a:r>
              <a:t>✓ That's exactly why we offer a 30-day pilot. You'll see measurable results before committing to full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❌ Our developers are resistant to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4A148"/>
                </a:solidFill>
              </a:defRPr>
            </a:pPr>
            <a:r>
              <a:t>✓ Bob actually reduces developer frustration by eliminating manual tasks. Early adopters become champions.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❌ Budget is tight this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663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4A148"/>
                </a:solidFill>
              </a:defRPr>
            </a:pPr>
            <a:r>
              <a:t>✓ Bob pays for itself in 3 months. We can structure payment to align with your budget cycle.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Your Sales Process &amp;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CDW Account Executive Enablement | IBM Bob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C0000"/>
                </a:solidFill>
              </a:defRPr>
            </a:pPr>
            <a:r>
              <a:t>Week 1-2: Discovery &amp; Qualification</a:t>
            </a:r>
          </a:p>
          <a:p>
            <a:pPr>
              <a:defRPr sz="1100"/>
            </a:pPr>
            <a:r>
              <a:t>Identify pain points, stakeholders</a:t>
            </a:r>
          </a:p>
          <a:p>
            <a:r>
              <a:t>Size the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C0000"/>
                </a:solidFill>
              </a:defRPr>
            </a:pPr>
            <a:r>
              <a:t>Week 3-4: Executive Presentation</a:t>
            </a:r>
          </a:p>
          <a:p>
            <a:pPr>
              <a:defRPr sz="1100"/>
            </a:pPr>
            <a:r>
              <a:t>Present business case to CTO/CFO</a:t>
            </a:r>
          </a:p>
          <a:p>
            <a:r>
              <a:t>Propose pilot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C0000"/>
                </a:solidFill>
              </a:defRPr>
            </a:pPr>
            <a:r>
              <a:t>Week 5-6: Pilot Setup</a:t>
            </a:r>
          </a:p>
          <a:p>
            <a:pPr>
              <a:defRPr sz="1100"/>
            </a:pPr>
            <a:r>
              <a:t>10-20 developers, 30 days</a:t>
            </a:r>
          </a:p>
          <a:p>
            <a:r>
              <a:t>CDW implementation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59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C0000"/>
                </a:solidFill>
              </a:defRPr>
            </a:pPr>
            <a:r>
              <a:t>Week 7-10: Pilot Results</a:t>
            </a:r>
          </a:p>
          <a:p>
            <a:pPr>
              <a:defRPr sz="1100"/>
            </a:pPr>
            <a:r>
              <a:t>Measure ROI, gather testimonials</a:t>
            </a:r>
          </a:p>
          <a:p>
            <a:r>
              <a:t>Expand business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C0000"/>
                </a:solidFill>
              </a:defRPr>
            </a:pPr>
            <a:r>
              <a:t>Week 11-12: Close &amp; Expand</a:t>
            </a:r>
          </a:p>
          <a:p>
            <a:pPr>
              <a:defRPr sz="1100"/>
            </a:pPr>
            <a:r>
              <a:t>Full deployment contract</a:t>
            </a:r>
          </a:p>
          <a:p>
            <a:r>
              <a:t>Services &amp; training upsell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to Measure Your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CDW Account Executive Enablement | IBM Bob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43200" cy="1371600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8595B"/>
                </a:solidFill>
              </a:defRPr>
            </a:pPr>
            <a:r>
              <a:t>Deal Size</a:t>
            </a:r>
          </a:p>
          <a:p>
            <a:pPr>
              <a:defRPr sz="2000" b="1">
                <a:solidFill>
                  <a:srgbClr val="CC0000"/>
                </a:solidFill>
              </a:defRPr>
            </a:pPr>
            <a:r>
              <a:t>$500K - $2M ARR</a:t>
            </a:r>
          </a:p>
          <a:p>
            <a:pPr>
              <a:defRPr sz="1100" i="1"/>
            </a:pPr>
            <a:r>
              <a:t>Track initial + expansion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2743200" cy="1371600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8595B"/>
                </a:solidFill>
              </a:defRPr>
            </a:pPr>
            <a:r>
              <a:t>Sales Cycle</a:t>
            </a:r>
          </a:p>
          <a:p>
            <a:pPr>
              <a:defRPr sz="2000" b="1">
                <a:solidFill>
                  <a:srgbClr val="CC0000"/>
                </a:solidFill>
              </a:defRPr>
            </a:pPr>
            <a:r>
              <a:t>60-90 days</a:t>
            </a:r>
          </a:p>
          <a:p>
            <a:pPr>
              <a:defRPr sz="1100" i="1"/>
            </a:pPr>
            <a:r>
              <a:t>Pilot to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2743200" cy="1371600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8595B"/>
                </a:solidFill>
              </a:defRPr>
            </a:pPr>
            <a:r>
              <a:t>Win Rate</a:t>
            </a:r>
          </a:p>
          <a:p>
            <a:pPr>
              <a:defRPr sz="2000" b="1">
                <a:solidFill>
                  <a:srgbClr val="CC0000"/>
                </a:solidFill>
              </a:defRPr>
            </a:pPr>
            <a:r>
              <a:t>70%+</a:t>
            </a:r>
          </a:p>
          <a:p>
            <a:pPr>
              <a:defRPr sz="1100" i="1"/>
            </a:pPr>
            <a:r>
              <a:t>After successful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2743200" cy="1371600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8595B"/>
                </a:solidFill>
              </a:defRPr>
            </a:pPr>
            <a:r>
              <a:t>Customer Satisfaction</a:t>
            </a:r>
          </a:p>
          <a:p>
            <a:pPr>
              <a:defRPr sz="2000" b="1">
                <a:solidFill>
                  <a:srgbClr val="CC0000"/>
                </a:solidFill>
              </a:defRPr>
            </a:pPr>
            <a:r>
              <a:t>9/10 NPS</a:t>
            </a:r>
          </a:p>
          <a:p>
            <a:pPr>
              <a:defRPr sz="1100" i="1"/>
            </a:pPr>
            <a:r>
              <a:t>High renewal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657600"/>
            <a:ext cx="2743200" cy="1371600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8595B"/>
                </a:solidFill>
              </a:defRPr>
            </a:pPr>
            <a:r>
              <a:t>Account Growth</a:t>
            </a:r>
          </a:p>
          <a:p>
            <a:pPr>
              <a:defRPr sz="2000" b="1">
                <a:solidFill>
                  <a:srgbClr val="CC0000"/>
                </a:solidFill>
              </a:defRPr>
            </a:pPr>
            <a:r>
              <a:t>3X in Year 2</a:t>
            </a:r>
          </a:p>
          <a:p>
            <a:pPr>
              <a:defRPr sz="1100" i="1"/>
            </a:pPr>
            <a:r>
              <a:t>Expand to other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657600"/>
            <a:ext cx="2743200" cy="1371600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8595B"/>
                </a:solidFill>
              </a:defRPr>
            </a:pPr>
            <a:r>
              <a:t>Your Commission</a:t>
            </a:r>
          </a:p>
          <a:p>
            <a:pPr>
              <a:defRPr sz="2000" b="1">
                <a:solidFill>
                  <a:srgbClr val="CC0000"/>
                </a:solidFill>
              </a:defRPr>
            </a:pPr>
            <a:r>
              <a:t>$50K - $200K</a:t>
            </a:r>
          </a:p>
          <a:p>
            <a:pPr>
              <a:defRPr sz="1100" i="1"/>
            </a:pPr>
            <a:r>
              <a:t>First year earnings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Your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Review your $10M account's developer headcount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Identify the CTO/VP Engineering as your champion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Schedule discovery call to discuss productivity challenges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Present Bob as the solution with IBM/CDW backing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Propose 30-day pilot with 10-20 developers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6. Close initial deal and plan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7607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C107"/>
                </a:solidFill>
              </a:defRPr>
            </a:pPr>
            <a:r>
              <a:t>CDW Sales Engineering &amp; IBM Partnership Team</a:t>
            </a:r>
          </a:p>
          <a:p>
            <a:pPr algn="ctr">
              <a:defRPr sz="1600">
                <a:solidFill>
                  <a:srgbClr val="FFC107"/>
                </a:solidFill>
              </a:defRPr>
            </a:pPr>
            <a:r>
              <a:t>are here to support your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989</Words>
  <Application>Microsoft Macintosh PowerPoint</Application>
  <PresentationFormat>On-screen Show (4:3)</PresentationFormat>
  <Paragraphs>181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 McManus</cp:lastModifiedBy>
  <cp:revision>2</cp:revision>
  <dcterms:created xsi:type="dcterms:W3CDTF">2013-01-27T09:14:16Z</dcterms:created>
  <dcterms:modified xsi:type="dcterms:W3CDTF">2026-06-03T03:31:15Z</dcterms:modified>
  <cp:category/>
</cp:coreProperties>
</file>
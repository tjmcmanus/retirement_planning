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Transforming Software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C107"/>
                </a:solidFill>
              </a:defRPr>
            </a:pPr>
            <a:r>
              <a:t>How Bob Delivers 3X Developer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4A148"/>
                </a:solidFill>
              </a:defRPr>
            </a:pPr>
            <a:r>
              <a:t>$45,000 Annual Value Per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IBM &amp; CDW Strategic Partnership | Executive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Summary: The Business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IBM &amp; CDW | Executive Briefing |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CC0000"/>
                </a:solidFill>
              </a:defRPr>
            </a:pPr>
            <a: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Faster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Reduce time-to-market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82880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CC0000"/>
                </a:solidFill>
              </a:defRPr>
            </a:pPr>
            <a:r>
              <a:t>$45K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9260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Annual ROI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474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Per developer savings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CC0000"/>
                </a:solidFill>
              </a:defRPr>
            </a:pPr>
            <a:r>
              <a:t>3X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260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Productivity Gain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474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Measurable output increase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/>
            </a:pPr>
            <a:r>
              <a:t>Bob transforms your development organization by eliminating manual workflows, reducing errors, and accelerating delivery—delivering immediate, measurable business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Challenge: Hidden Costs in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IBM &amp; CDW | Executive Briefing |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30% - Time Lost to Context Switching</a:t>
            </a:r>
          </a:p>
          <a:p>
            <a:pPr>
              <a:defRPr sz="1600"/>
            </a:pPr>
            <a:r>
              <a:t>Developers spend hours copying code between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109728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$180K - Annual Cost Per Team</a:t>
            </a:r>
          </a:p>
          <a:p>
            <a:pPr>
              <a:defRPr sz="1600"/>
            </a:pPr>
            <a:r>
              <a:t>Manual workflows drain productivity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7315200" cy="109728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2X - Error Rate</a:t>
            </a:r>
          </a:p>
          <a:p>
            <a:pPr>
              <a:defRPr sz="1600"/>
            </a:pPr>
            <a:r>
              <a:t>Copy-paste mistakes lead to bugs and rework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Solution: Bob's Intelligent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IBM &amp; CDW | Executive Briefing |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2CE"/>
                </a:solidFill>
              </a:defRPr>
            </a:pPr>
            <a:r>
              <a:t>🚀 Automated Workflows</a:t>
            </a:r>
          </a:p>
          <a:p>
            <a:pPr>
              <a:spcBef>
                <a:spcPts val="600"/>
              </a:spcBef>
              <a:defRPr sz="1600"/>
            </a:pPr>
            <a:r>
              <a:t>Eliminate manual file operations and context switching</a:t>
            </a:r>
          </a:p>
          <a:p/>
          <a:p>
            <a:pPr>
              <a:defRPr sz="2400" b="1">
                <a:solidFill>
                  <a:srgbClr val="0072CE"/>
                </a:solidFill>
              </a:defRPr>
            </a:pPr>
            <a:r>
              <a:t>✅ Zero-Error Execution</a:t>
            </a:r>
          </a:p>
          <a:p>
            <a:pPr>
              <a:spcBef>
                <a:spcPts val="600"/>
              </a:spcBef>
              <a:defRPr sz="1600"/>
            </a:pPr>
            <a:r>
              <a:t>Atomic operations ensure consistency and reliability</a:t>
            </a:r>
          </a:p>
          <a:p/>
          <a:p>
            <a:pPr>
              <a:defRPr sz="2400" b="1">
                <a:solidFill>
                  <a:srgbClr val="0072CE"/>
                </a:solidFill>
              </a:defRPr>
            </a:pPr>
            <a:r>
              <a:t>⚡ Instant Results</a:t>
            </a:r>
          </a:p>
          <a:p>
            <a:pPr>
              <a:spcBef>
                <a:spcPts val="600"/>
              </a:spcBef>
              <a:defRPr sz="1600"/>
            </a:pPr>
            <a:r>
              <a:t>Direct integration with development environment</a:t>
            </a:r>
          </a:p>
          <a:p/>
          <a:p>
            <a:pPr>
              <a:defRPr sz="2400" b="1">
                <a:solidFill>
                  <a:srgbClr val="0072CE"/>
                </a:solidFill>
              </a:defRPr>
            </a:pPr>
            <a:r>
              <a:t>📊 Measurable Impact</a:t>
            </a:r>
          </a:p>
          <a:p>
            <a:pPr>
              <a:spcBef>
                <a:spcPts val="600"/>
              </a:spcBef>
              <a:defRPr sz="1600"/>
            </a:pPr>
            <a:r>
              <a:t>Track productivity gains and ROI in real-time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Financial Impact: Immediate ROI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IBM &amp; CDW | Executive Briefing |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45920"/>
            <a:ext cx="5486400" cy="1371600"/>
          </a:xfrm>
          <a:prstGeom prst="rect">
            <a:avLst/>
          </a:prstGeom>
          <a:solidFill>
            <a:srgbClr val="E6FFE6"/>
          </a:solidFill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24A148"/>
                </a:solidFill>
              </a:defRPr>
            </a:pPr>
            <a:r>
              <a:t>$45,000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Annual Value Per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Time Savings: 50 hours/month × $75/hour = $3,750/month</a:t>
            </a:r>
          </a:p>
          <a:p>
            <a:pPr>
              <a:defRPr sz="1400"/>
            </a:pPr>
            <a:r>
              <a:t>Reduced Errors: 20% fewer bugs = $500/month</a:t>
            </a:r>
          </a:p>
          <a:p>
            <a:pPr>
              <a:defRPr sz="1400"/>
            </a:pPr>
            <a:r>
              <a:t>Faster Delivery: 2 weeks earlier to market = $500/month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72CE"/>
                </a:solidFill>
              </a:defRPr>
            </a:pPr>
            <a:r>
              <a:t>Total Monthly Value: $4,750</a:t>
            </a:r>
          </a:p>
          <a:p>
            <a:pPr>
              <a:defRPr sz="1600" b="1">
                <a:solidFill>
                  <a:srgbClr val="0072CE"/>
                </a:solidFill>
              </a:defRPr>
            </a:pPr>
            <a:r>
              <a:t>Annual Value: $57,000 (conservative estimate: $45,000)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Competitive Advantage: Why Bob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IBM &amp; CDW | Executive Briefing | Confidential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Bob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Traditional AI Tools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Development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3X Faster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Baseline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Error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90% Reduction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Seamless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Manual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ROI 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Immediate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6-12 months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Market Leadership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IBM &amp; CDW | Executive Briefing |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43CE"/>
                </a:solidFill>
              </a:defRPr>
            </a:pPr>
            <a:r>
              <a:t>Bob is the only AI assistant that combines conversational intelligence with direct development environment integration, delivering 3X productivity gains that competitors cannot match.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24A148"/>
                </a:solidFill>
              </a:defRPr>
            </a:pPr>
            <a:r>
              <a:t>✓ First-Mover Advantage: Only tool with atomic multi-file operations</a:t>
            </a:r>
          </a:p>
          <a:p>
            <a:pPr>
              <a:spcBef>
                <a:spcPts val="1200"/>
              </a:spcBef>
              <a:defRPr sz="1600">
                <a:solidFill>
                  <a:srgbClr val="24A148"/>
                </a:solidFill>
              </a:defRPr>
            </a:pPr>
            <a:r>
              <a:t>✓ Proven ROI: $45K annual value per developer</a:t>
            </a:r>
          </a:p>
          <a:p>
            <a:pPr>
              <a:spcBef>
                <a:spcPts val="1200"/>
              </a:spcBef>
              <a:defRPr sz="1600">
                <a:solidFill>
                  <a:srgbClr val="24A148"/>
                </a:solidFill>
              </a:defRPr>
            </a:pPr>
            <a:r>
              <a:t>✓ Enterprise Ready: Security, compliance, and scalability built-in</a:t>
            </a:r>
          </a:p>
          <a:p>
            <a:pPr>
              <a:spcBef>
                <a:spcPts val="1200"/>
              </a:spcBef>
              <a:defRPr sz="1600">
                <a:solidFill>
                  <a:srgbClr val="24A148"/>
                </a:solidFill>
              </a:defRPr>
            </a:pPr>
            <a:r>
              <a:t>✓ Strategic Partnership: IBM &amp; CDW backing ensures long-term success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Proven Results: Customer Success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IBM &amp; CDW | Executive Briefing |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Fortune 500 Tech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• 85% faster code refactoring</a:t>
            </a:r>
          </a:p>
          <a:p>
            <a:pPr>
              <a:spcBef>
                <a:spcPts val="400"/>
              </a:spcBef>
              <a:defRPr sz="1400"/>
            </a:pPr>
            <a:r>
              <a:t>• $2M annual savings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Financial Services Firm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• 60% reduction in deployment time</a:t>
            </a:r>
          </a:p>
          <a:p>
            <a:pPr>
              <a:spcBef>
                <a:spcPts val="400"/>
              </a:spcBef>
              <a:defRPr sz="1400"/>
            </a:pPr>
            <a:r>
              <a:t>• Zero critical bugs in 6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Healthcare Software 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2064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• 3X increase in feature velocity</a:t>
            </a:r>
          </a:p>
          <a:p>
            <a:pPr>
              <a:spcBef>
                <a:spcPts val="400"/>
              </a:spcBef>
              <a:defRPr sz="1400"/>
            </a:pPr>
            <a:r>
              <a:t>• Achieved SOC 2 compliance faster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Strategic Business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IBM &amp; CDW | Executive Briefing |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886200" cy="457200"/>
          </a:xfrm>
          <a:prstGeom prst="rect">
            <a:avLst/>
          </a:prstGeom>
          <a:solidFill>
            <a:srgbClr val="0072CE"/>
          </a:solidFill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Competitive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886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• Faster time-to-market</a:t>
            </a:r>
          </a:p>
          <a:p>
            <a:pPr>
              <a:defRPr sz="1200"/>
            </a:pPr>
            <a:r>
              <a:t>• Higher quality products</a:t>
            </a:r>
          </a:p>
          <a:p>
            <a:pPr>
              <a:defRPr sz="1200"/>
            </a:pPr>
            <a:r>
              <a:t>• Innovation acceleration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828800"/>
            <a:ext cx="3886200" cy="457200"/>
          </a:xfrm>
          <a:prstGeom prst="rect">
            <a:avLst/>
          </a:prstGeom>
          <a:solidFill>
            <a:srgbClr val="0072CE"/>
          </a:solidFill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Cost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286000"/>
            <a:ext cx="3886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• Reduced development costs</a:t>
            </a:r>
          </a:p>
          <a:p>
            <a:pPr>
              <a:defRPr sz="1200"/>
            </a:pPr>
            <a:r>
              <a:t>• Lower error remediation</a:t>
            </a:r>
          </a:p>
          <a:p>
            <a:pPr>
              <a:defRPr sz="1200"/>
            </a:pPr>
            <a:r>
              <a:t>• Efficient resource utilization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3886200" cy="457200"/>
          </a:xfrm>
          <a:prstGeom prst="rect">
            <a:avLst/>
          </a:prstGeom>
          <a:solidFill>
            <a:srgbClr val="0072CE"/>
          </a:solidFill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Risk Mitigation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3886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• Fewer production bugs</a:t>
            </a:r>
          </a:p>
          <a:p>
            <a:pPr>
              <a:defRPr sz="1200"/>
            </a:pPr>
            <a:r>
              <a:t>• Consistent code quality</a:t>
            </a:r>
          </a:p>
          <a:p>
            <a:pPr>
              <a:defRPr sz="1200"/>
            </a:pPr>
            <a:r>
              <a:t>• Audit trail &amp;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114800"/>
            <a:ext cx="3886200" cy="457200"/>
          </a:xfrm>
          <a:prstGeom prst="rect">
            <a:avLst/>
          </a:prstGeom>
          <a:solidFill>
            <a:srgbClr val="0072CE"/>
          </a:solidFill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Talent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572000"/>
            <a:ext cx="3886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• Developer satisfaction</a:t>
            </a:r>
          </a:p>
          <a:p>
            <a:pPr>
              <a:defRPr sz="1200"/>
            </a:pPr>
            <a:r>
              <a:t>• Reduced burnout</a:t>
            </a:r>
          </a:p>
          <a:p>
            <a:pPr>
              <a:defRPr sz="1200"/>
            </a:pPr>
            <a:r>
              <a:t>• Attract top talent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Risk Mitigation &amp;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IBM &amp; CDW | Executive Briefing |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72CE"/>
                </a:solidFill>
              </a:defRPr>
            </a:pPr>
            <a:r>
              <a:t>Enterprise-Grade Security:</a:t>
            </a:r>
          </a:p>
          <a:p>
            <a:pPr>
              <a:spcBef>
                <a:spcPts val="600"/>
              </a:spcBef>
              <a:defRPr sz="1600"/>
            </a:pPr>
            <a:r>
              <a:t>✓ Local execution - code never leaves your environment</a:t>
            </a:r>
          </a:p>
          <a:p>
            <a:pPr>
              <a:spcBef>
                <a:spcPts val="600"/>
              </a:spcBef>
              <a:defRPr sz="1600"/>
            </a:pPr>
            <a:r>
              <a:t>✓ File access controls and audit trails</a:t>
            </a:r>
          </a:p>
          <a:p>
            <a:pPr>
              <a:spcBef>
                <a:spcPts val="600"/>
              </a:spcBef>
              <a:defRPr sz="1600"/>
            </a:pPr>
            <a:r>
              <a:t>✓ SOC 2 Type II compliant</a:t>
            </a:r>
          </a:p>
          <a:p>
            <a:pPr>
              <a:spcBef>
                <a:spcPts val="600"/>
              </a:spcBef>
              <a:defRPr sz="1600"/>
            </a:pPr>
            <a:r>
              <a:t>✓ GDPR and CCPA ready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1200"/>
              </a:spcBef>
              <a:defRPr sz="2000" b="1">
                <a:solidFill>
                  <a:srgbClr val="0072CE"/>
                </a:solidFill>
              </a:defRPr>
            </a:pPr>
            <a:r>
              <a:t>Business Continuity:</a:t>
            </a:r>
          </a:p>
          <a:p>
            <a:pPr>
              <a:spcBef>
                <a:spcPts val="600"/>
              </a:spcBef>
              <a:defRPr sz="1600"/>
            </a:pPr>
            <a:r>
              <a:t>✓ No vendor lock-in - works with existing tools</a:t>
            </a:r>
          </a:p>
          <a:p>
            <a:pPr>
              <a:spcBef>
                <a:spcPts val="600"/>
              </a:spcBef>
              <a:defRPr sz="1600"/>
            </a:pPr>
            <a:r>
              <a:t>✓ Gradual rollout with pilot programs</a:t>
            </a:r>
          </a:p>
          <a:p>
            <a:pPr>
              <a:spcBef>
                <a:spcPts val="600"/>
              </a:spcBef>
              <a:defRPr sz="1600"/>
            </a:pPr>
            <a:r>
              <a:t>✓ 24/7 enterprise support from IBM &amp; CDW</a:t>
            </a:r>
          </a:p>
          <a:p>
            <a:pPr>
              <a:spcBef>
                <a:spcPts val="600"/>
              </a:spcBef>
              <a:defRPr sz="1600"/>
            </a:pPr>
            <a:r>
              <a:t>✓ 99.9% uptime SLA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Implementation: Fast Time to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IBM &amp; CDW | Executive Briefing |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A148"/>
                </a:solidFill>
              </a:defRPr>
            </a:pPr>
            <a:r>
              <a:t>Week 1-2: Pilot Program</a:t>
            </a:r>
          </a:p>
          <a:p>
            <a:pPr>
              <a:defRPr sz="1400"/>
            </a:pPr>
            <a:r>
              <a:t>5-10 developers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7315200" cy="822960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Week 3-4: Initial Rollout</a:t>
            </a:r>
          </a:p>
          <a:p>
            <a:pPr>
              <a:defRPr sz="1400"/>
            </a:pPr>
            <a:r>
              <a:t>25% of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7315200" cy="822960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Week 5-8: Full Deployment</a:t>
            </a:r>
          </a:p>
          <a:p>
            <a:pPr>
              <a:defRPr sz="1400"/>
            </a:pPr>
            <a:r>
              <a:t>100% 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7315200" cy="822960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Week 9+: Optimization</a:t>
            </a:r>
          </a:p>
          <a:p>
            <a:pPr>
              <a:defRPr sz="1400"/>
            </a:pPr>
            <a:r>
              <a:t>Continuous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669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4A148"/>
                </a:solidFill>
              </a:defRPr>
            </a:pPr>
            <a:r>
              <a:t>ROI positive within 30 days of pilot completion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Investment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IBM &amp; CDW | Executive Briefing |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6400800" cy="1828800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2CE"/>
                </a:solidFill>
              </a:defRPr>
            </a:pPr>
            <a:r>
              <a:t>Typical Enterprise Investment: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$X per developer per month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Payback Period: &lt; 3 months</a:t>
            </a:r>
          </a:p>
          <a:p>
            <a:pPr algn="ctr">
              <a:defRPr sz="1800"/>
            </a:pPr>
            <a:r>
              <a:t>Break-even: 6 hours saved per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6400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For a 100-developer organization: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Annual Investment: $XXX,XXX</a:t>
            </a:r>
          </a:p>
          <a:p>
            <a:pPr algn="ctr">
              <a:defRPr sz="1800"/>
            </a:pPr>
            <a:r>
              <a:t>Annual Value: $4,500,000</a:t>
            </a:r>
          </a:p>
          <a:p>
            <a:pPr algn="ctr">
              <a:defRPr sz="1800"/>
            </a:pPr>
          </a:p>
          <a:p>
            <a:pPr algn="ctr">
              <a:defRPr sz="2400" b="1">
                <a:solidFill>
                  <a:srgbClr val="24A148"/>
                </a:solidFill>
              </a:defRPr>
            </a:pPr>
            <a:r>
              <a:t>Net Annual Benefit: $4,XXX,XXX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Transform Your Development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Next Steps: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1. Schedule pilot program (2 weeks)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2. Measure results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3. Scale across organization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4. Realize $45K+ per developer annually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7607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C107"/>
                </a:solidFill>
              </a:defRPr>
            </a:pPr>
            <a:r>
              <a:t>Contact your IBM or CDW representative today</a:t>
            </a:r>
          </a:p>
          <a:p>
            <a:pPr algn="ctr">
              <a:defRPr sz="1800">
                <a:solidFill>
                  <a:srgbClr val="FFC107"/>
                </a:solidFill>
              </a:defRPr>
            </a:pPr>
            <a:r>
              <a:t>to start your pilot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